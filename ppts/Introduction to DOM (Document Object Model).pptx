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2EFB-0416-F0F3-A432-262AA1AE2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C5A42-9A44-E5E4-426D-9420B3E67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8CC3-9294-B212-310F-3EF76B28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DC105-4612-809B-D652-ACC48D3D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3F602-ABFA-88E7-1083-0C3DCA97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4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7CEF1-4DAB-7EAF-14C3-778B5F92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E2333-F594-6F65-593E-4C192318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218D8-C002-BCC6-6FB1-F9803F3B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84370-CBF4-A158-4DEA-D7EF9A1DE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934D3-7B69-13E9-5C0B-772D2C4E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40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BA33-F413-977B-34C6-62308795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8F763-A983-CA49-BEF2-CB5CADA1D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1130E-D846-F0BB-1BEB-7F0D4424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6FF59-1483-0BFD-856C-3220C070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D9605-87D3-C719-9016-D94F74C7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20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C384-77D7-50C7-6833-E536AB206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FB312-665D-028E-725C-38A531722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7E51F-7281-73EE-6A3A-B00D69C31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A0DF8-2FEF-B8CE-5C86-AA5167084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0EE5D-6E2B-313A-9766-4AEEF261B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007DD-DB2F-E038-5C21-F2D7373D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96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9D1C-59B0-DF78-7D1C-7AB07540F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16C8-B4BF-0521-E035-0A1D6C33D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5D9BD-39E0-6AA6-DEFB-83C98EE6A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7F22AB-2FA2-4D31-BCB2-9B5D4B363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2B045-7AFF-A554-ECEE-34280EDEF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551E4-A6EA-2D36-FD84-0E0560F31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2637C4-8FA5-8A75-8452-E2B21EF99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A1557F-2020-D942-45E9-012BD947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69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569C-5BE5-1B7E-CC8C-F128AD13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A1864-4D23-1FEC-C8B6-869548B8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4242CB-ACA0-DAFE-D4A4-608877A4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3FDD0-E7E0-7ACF-6714-C1130B780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38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3D9E9-439A-3768-78F4-464C080D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1960B-5A04-B768-1FC0-6CF95446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65751-D3BB-8825-2CA2-BBC046A4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24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0932-3F35-5062-B00F-A7BA38373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21C52-B469-4F5E-B00B-1660C83C5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07BB2-F622-8299-3F21-2C0E42CE8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8AEE7-E6D2-2717-AC0C-5A9E1C32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BA636-14B6-A61D-9BD8-DE49304F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1D71C-BA96-4FA9-BEBD-7290E058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792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631C0-9158-47E2-01B1-16E07E332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C81E-4D3A-DB78-9D4A-CB441269F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704BD-FC6D-AC63-B882-D76A9972C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DE68A-DE83-5F0A-4990-57E441E6A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7C6EF-D345-75EC-137B-980629B9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806B9-4CD5-D0DB-1268-D715B032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02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A3EC-A39E-274B-2E20-AB6BE2D5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DE3A4-5322-AEAA-E494-DD2CC4EB0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52586-1F12-C829-C52D-2FB13F66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CA16C-5F0A-10B1-F821-E27E43A6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0F851-2BE5-24AD-496E-C7336526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77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7274C4-E8C9-3055-E26C-3711985D5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DF9BB-695D-E098-AD1C-B4B51BE25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CC36-43B3-548A-DC85-9DD40F5D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B646D-D1CF-CC31-C742-D60BFF64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35D33-D9F6-B073-A5B3-C4C6E7A3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59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08ECF5-7D36-1825-1AA9-5EBDA9FD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867D4-31D7-3F58-AF76-55CABC46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531D4-0AB7-1430-59CA-1CFBB28EE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C26A2-9528-49CB-9B46-C6689891140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3A74E-7C79-05CB-92B1-803B6ADAB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A2112-939F-11F5-95F2-C4EEE11FC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CB9C9-90AE-4F18-8B05-ABE6CDFA5A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78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08B8-A4A6-E79D-C57F-E5F9FE012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DOM (Document Object Model)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53FEB8-BFFF-7D37-DF2C-58E937B87F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737421"/>
            <a:ext cx="889538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DOM?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do we use it?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 = Structure of a webpage represented as a tree.</a:t>
            </a:r>
          </a:p>
        </p:txBody>
      </p:sp>
    </p:spTree>
    <p:extLst>
      <p:ext uri="{BB962C8B-B14F-4D97-AF65-F5344CB8AC3E}">
        <p14:creationId xmlns:p14="http://schemas.microsoft.com/office/powerpoint/2010/main" val="4201388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8435-CA83-6674-FF41-0FB40996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DOM?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15BD4A-6F1A-E425-4BC3-8C587F4728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9300"/>
            <a:ext cx="612321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 = Browser’s representation of HTML.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HTML element becomes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can: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elements using the DOM.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69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6B40-0442-ADF4-7A2B-BBB4F41F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 Tree Visual</a:t>
            </a:r>
          </a:p>
        </p:txBody>
      </p:sp>
      <p:pic>
        <p:nvPicPr>
          <p:cNvPr id="3074" name="Picture 2" descr="What is the DOM? Document Object Model Meaning in JavaScript">
            <a:extLst>
              <a:ext uri="{FF2B5EF4-FFF2-40B4-BE49-F238E27FC236}">
                <a16:creationId xmlns:a16="http://schemas.microsoft.com/office/drawing/2014/main" id="{398CDEEF-EE9B-51DB-5D4F-0084215F01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8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FEF8-73E8-F70F-3AA3-1664EC3F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263FA-1765-57F8-A951-3F72EF6CB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b="1" dirty="0" err="1"/>
              <a:t>document.getElementById</a:t>
            </a:r>
            <a:r>
              <a:rPr lang="en-GB" sz="2400" b="1" dirty="0"/>
              <a:t>("id")</a:t>
            </a:r>
          </a:p>
          <a:p>
            <a:r>
              <a:rPr lang="en-GB" sz="2400" dirty="0"/>
              <a:t>Returns a single element.</a:t>
            </a:r>
          </a:p>
          <a:p>
            <a:r>
              <a:rPr lang="en-GB" sz="2400" dirty="0"/>
              <a:t>Fastest method.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29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E74D-F799-9888-D6BD-EF7316AB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811E-48D4-0133-DBD8-3405E37AD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b="1" dirty="0" err="1"/>
              <a:t>document.getElementsByClassName</a:t>
            </a:r>
            <a:r>
              <a:rPr lang="en-GB" sz="2400" b="1" dirty="0"/>
              <a:t>("class")</a:t>
            </a:r>
          </a:p>
          <a:p>
            <a:r>
              <a:rPr lang="en-GB" sz="2400" dirty="0"/>
              <a:t>Returns </a:t>
            </a:r>
            <a:r>
              <a:rPr lang="en-GB" sz="2400" b="1" dirty="0" err="1"/>
              <a:t>HTMLCollection</a:t>
            </a:r>
            <a:endParaRPr lang="en-GB" sz="2400" dirty="0"/>
          </a:p>
          <a:p>
            <a:r>
              <a:rPr lang="en-GB" sz="2400" dirty="0"/>
              <a:t>Not an array (but looks like one).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090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473D-BFC7-410F-8733-229664FD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98F62-923A-F8A8-8F04-3F058A7A4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document.querySelector</a:t>
            </a:r>
            <a:r>
              <a:rPr lang="en-GB" b="1" dirty="0"/>
              <a:t>("selector")</a:t>
            </a:r>
          </a:p>
          <a:p>
            <a:r>
              <a:rPr lang="en-GB" dirty="0"/>
              <a:t>Returns the </a:t>
            </a:r>
            <a:r>
              <a:rPr lang="en-GB" b="1" dirty="0"/>
              <a:t>first matched</a:t>
            </a:r>
            <a:r>
              <a:rPr lang="en-GB" dirty="0"/>
              <a:t> element.</a:t>
            </a:r>
          </a:p>
          <a:p>
            <a:r>
              <a:rPr lang="en-GB" dirty="0"/>
              <a:t>Can use:</a:t>
            </a:r>
          </a:p>
          <a:p>
            <a:pPr lvl="1"/>
            <a:r>
              <a:rPr lang="en-GB" dirty="0"/>
              <a:t>#id</a:t>
            </a:r>
          </a:p>
          <a:p>
            <a:pPr lvl="1"/>
            <a:r>
              <a:rPr lang="en-GB" dirty="0"/>
              <a:t>.class</a:t>
            </a:r>
          </a:p>
          <a:p>
            <a:pPr lvl="1"/>
            <a:r>
              <a:rPr lang="en-GB" dirty="0"/>
              <a:t>tag</a:t>
            </a:r>
          </a:p>
          <a:p>
            <a:pPr lvl="1"/>
            <a:r>
              <a:rPr lang="en-GB" dirty="0"/>
              <a:t>Complex CSS selectors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538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54B4D-3E37-713D-E587-7446062C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E5C51-D0AF-CC49-DCBC-0D6D2E3D5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document.querySelectorAll</a:t>
            </a:r>
            <a:r>
              <a:rPr lang="en-GB" b="1" dirty="0"/>
              <a:t>("selector")</a:t>
            </a:r>
          </a:p>
          <a:p>
            <a:r>
              <a:rPr lang="en-GB" dirty="0"/>
              <a:t>Returns </a:t>
            </a:r>
            <a:r>
              <a:rPr lang="en-GB" b="1" dirty="0" err="1"/>
              <a:t>NodeList</a:t>
            </a:r>
            <a:endParaRPr lang="en-GB" dirty="0"/>
          </a:p>
          <a:p>
            <a:r>
              <a:rPr lang="en-GB" dirty="0" err="1"/>
              <a:t>NodeList</a:t>
            </a:r>
            <a:r>
              <a:rPr lang="en-GB" dirty="0"/>
              <a:t> = array-like + supports </a:t>
            </a:r>
            <a:r>
              <a:rPr lang="en-GB" dirty="0" err="1"/>
              <a:t>forEach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621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CC00-9C9A-5DD7-617B-2C9FB15F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Changing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56453-3CC7-78F9-6841-29BB5562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Using </a:t>
            </a:r>
            <a:r>
              <a:rPr lang="en-GB" b="1" dirty="0" err="1"/>
              <a:t>innerText</a:t>
            </a:r>
            <a:endParaRPr lang="en-GB" b="1" dirty="0"/>
          </a:p>
          <a:p>
            <a:r>
              <a:rPr lang="en-GB" dirty="0"/>
              <a:t>Gets/sets </a:t>
            </a:r>
            <a:r>
              <a:rPr lang="en-GB" b="1" dirty="0"/>
              <a:t>visible</a:t>
            </a:r>
            <a:r>
              <a:rPr lang="en-GB" dirty="0"/>
              <a:t> text.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b="1" dirty="0"/>
              <a:t>Using </a:t>
            </a:r>
            <a:r>
              <a:rPr lang="en-GB" b="1" dirty="0" err="1"/>
              <a:t>innerHTML</a:t>
            </a:r>
            <a:endParaRPr lang="en-GB" b="1" dirty="0"/>
          </a:p>
          <a:p>
            <a:r>
              <a:rPr lang="en-GB" dirty="0"/>
              <a:t>Gets/sets </a:t>
            </a:r>
            <a:r>
              <a:rPr lang="en-GB" b="1" dirty="0"/>
              <a:t>HTML code inside element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D4BD96-8655-B52E-D08C-B6941BE82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06" y="2769326"/>
            <a:ext cx="6988628" cy="927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2006B4-A4D8-2147-61C6-D7CC6F649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" y="5284435"/>
            <a:ext cx="7513381" cy="77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2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E80A-8E65-7AE2-9C6F-C8CD2CA2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Changing CSS (Inline Styles)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7290B-7A8C-0FB0-E163-51AB86DE6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via .</a:t>
            </a:r>
            <a:r>
              <a:rPr lang="en-GB" b="1" dirty="0" err="1"/>
              <a:t>style.property</a:t>
            </a:r>
            <a:endParaRPr lang="en-GB" b="1" dirty="0"/>
          </a:p>
          <a:p>
            <a:r>
              <a:rPr lang="en-GB" dirty="0"/>
              <a:t>Important: </a:t>
            </a:r>
            <a:r>
              <a:rPr lang="en-GB" b="1" dirty="0"/>
              <a:t>CSS uses camelCase in JS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F0276-E98F-E50A-927D-62BC7A6EA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8999"/>
            <a:ext cx="7458153" cy="18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486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B6205-24B4-16A5-0162-1B7521A7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/ Removing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901AA-AA1E-E0BE-24B5-35A4FE06B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classList</a:t>
            </a:r>
            <a:r>
              <a:rPr lang="en-GB" b="1" dirty="0"/>
              <a:t> Methods</a:t>
            </a:r>
          </a:p>
          <a:p>
            <a:r>
              <a:rPr lang="en-GB" dirty="0" err="1"/>
              <a:t>element.classList.add</a:t>
            </a:r>
            <a:r>
              <a:rPr lang="en-GB" dirty="0"/>
              <a:t>("</a:t>
            </a:r>
            <a:r>
              <a:rPr lang="en-GB" dirty="0" err="1"/>
              <a:t>className</a:t>
            </a:r>
            <a:r>
              <a:rPr lang="en-GB" dirty="0"/>
              <a:t>")</a:t>
            </a:r>
          </a:p>
          <a:p>
            <a:r>
              <a:rPr lang="en-GB" dirty="0" err="1"/>
              <a:t>element.classList.remove</a:t>
            </a:r>
            <a:r>
              <a:rPr lang="en-GB" dirty="0"/>
              <a:t>("</a:t>
            </a:r>
            <a:r>
              <a:rPr lang="en-GB" dirty="0" err="1"/>
              <a:t>className</a:t>
            </a:r>
            <a:r>
              <a:rPr lang="en-GB" dirty="0"/>
              <a:t>")</a:t>
            </a:r>
          </a:p>
          <a:p>
            <a:r>
              <a:rPr lang="en-GB" dirty="0" err="1"/>
              <a:t>element.classList.toggle</a:t>
            </a:r>
            <a:r>
              <a:rPr lang="en-GB" dirty="0"/>
              <a:t>("</a:t>
            </a:r>
            <a:r>
              <a:rPr lang="en-GB" dirty="0" err="1"/>
              <a:t>className</a:t>
            </a:r>
            <a:r>
              <a:rPr lang="en-GB" dirty="0"/>
              <a:t>")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7213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1CA3-1635-6AFD-CAE0-43748B61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9ABF-5603-D0FD-1996-5E83E87EE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document.createElement</a:t>
            </a:r>
            <a:r>
              <a:rPr lang="en-GB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48472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1219-D34A-56C3-C5C4-446DA619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98569-ADB0-ABB1-97BE-FE62AB912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Methods:</a:t>
            </a:r>
          </a:p>
          <a:p>
            <a:r>
              <a:rPr lang="en-GB" dirty="0" err="1"/>
              <a:t>parent.appendChild</a:t>
            </a:r>
            <a:r>
              <a:rPr lang="en-GB" dirty="0"/>
              <a:t>(</a:t>
            </a:r>
            <a:r>
              <a:rPr lang="en-GB" dirty="0" err="1"/>
              <a:t>newElement</a:t>
            </a:r>
            <a:r>
              <a:rPr lang="en-GB" dirty="0"/>
              <a:t>)</a:t>
            </a:r>
          </a:p>
          <a:p>
            <a:r>
              <a:rPr lang="en-GB" dirty="0" err="1"/>
              <a:t>parent.append</a:t>
            </a:r>
            <a:r>
              <a:rPr lang="en-GB" dirty="0"/>
              <a:t>(</a:t>
            </a:r>
            <a:r>
              <a:rPr lang="en-GB" dirty="0" err="1"/>
              <a:t>newElement</a:t>
            </a:r>
            <a:r>
              <a:rPr lang="en-GB" dirty="0"/>
              <a:t>)</a:t>
            </a:r>
          </a:p>
          <a:p>
            <a:r>
              <a:rPr lang="en-GB" dirty="0" err="1"/>
              <a:t>parent.prepend</a:t>
            </a:r>
            <a:r>
              <a:rPr lang="en-GB" dirty="0"/>
              <a:t>(</a:t>
            </a:r>
            <a:r>
              <a:rPr lang="en-GB" dirty="0" err="1"/>
              <a:t>newElement</a:t>
            </a:r>
            <a:r>
              <a:rPr lang="en-GB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9137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925C-5C2A-AA95-D37A-0CEFAF5EF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Parent, Children, Siblings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B09B4-CF92-0A9E-8AD9-E1C06A10B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Children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Parent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Siblings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DB005-2118-78E4-E5A1-BFE06DD5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74" y="1337437"/>
            <a:ext cx="5200052" cy="1851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B9D169-CDFA-6049-448A-ABD7C4E9D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885" y="3491688"/>
            <a:ext cx="4790298" cy="1019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95D31-556C-57C3-BC49-F5C17A775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885" y="4780886"/>
            <a:ext cx="7081109" cy="13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6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256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Introduction to DOM (Document Object Model)</vt:lpstr>
      <vt:lpstr>What is the DOM?</vt:lpstr>
      <vt:lpstr>DOM Tree Visual</vt:lpstr>
      <vt:lpstr>Accessing Elements</vt:lpstr>
      <vt:lpstr>Accessing Elements</vt:lpstr>
      <vt:lpstr>Accessing Elements</vt:lpstr>
      <vt:lpstr>Accessing Elements</vt:lpstr>
      <vt:lpstr>Changing Content</vt:lpstr>
      <vt:lpstr>Changing CSS (Inline Styles)</vt:lpstr>
      <vt:lpstr>Adding / Removing Classes</vt:lpstr>
      <vt:lpstr>Creating Elements</vt:lpstr>
      <vt:lpstr>Appending Elements</vt:lpstr>
      <vt:lpstr>Accessing Parent, Children, Siblings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2025-11-16T20:43:00Z</dcterms:created>
  <dcterms:modified xsi:type="dcterms:W3CDTF">2025-11-20T06:46:48Z</dcterms:modified>
</cp:coreProperties>
</file>